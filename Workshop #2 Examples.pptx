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56" r:id="rId1"/>
  </p:sldMasterIdLst>
  <p:notesMasterIdLst>
    <p:notesMasterId r:id="rId4"/>
  </p:notesMasterIdLst>
  <p:sldIdLst>
    <p:sldId id="315" r:id="rId2"/>
    <p:sldId id="313" r:id="rId3"/>
  </p:sldIdLst>
  <p:sldSz cx="12192000" cy="6858000"/>
  <p:notesSz cx="7010400" cy="9296400"/>
  <p:embeddedFontLst>
    <p:embeddedFont>
      <p:font typeface="Roboto" panose="02000000000000000000" pitchFamily="2" charset="0"/>
      <p:regular r:id="rId5"/>
      <p:bold r:id="rId6"/>
      <p:italic r:id="rId7"/>
      <p:boldItalic r:id="rId8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7F7F7"/>
    <a:srgbClr val="FFFFFF"/>
    <a:srgbClr val="A5D8FF"/>
    <a:srgbClr val="FFC9C9"/>
    <a:srgbClr val="FBFCFB"/>
    <a:srgbClr val="238DC1"/>
    <a:srgbClr val="FEFFFF"/>
    <a:srgbClr val="B2F2BB"/>
    <a:srgbClr val="FEFEFE"/>
    <a:srgbClr val="FFFE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144" y="120"/>
      </p:cViewPr>
      <p:guideLst>
        <p:guide orient="horz" pos="2160"/>
        <p:guide pos="2881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3" Type="http://schemas.openxmlformats.org/officeDocument/2006/relationships/slide" Target="slides/slide2.xml"/><Relationship Id="rId7" Type="http://schemas.openxmlformats.org/officeDocument/2006/relationships/font" Target="fonts/font3.fntdata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theme" Target="theme/theme1.xml"/><Relationship Id="rId5" Type="http://schemas.openxmlformats.org/officeDocument/2006/relationships/font" Target="fonts/font1.fntdata"/><Relationship Id="rId10" Type="http://schemas.openxmlformats.org/officeDocument/2006/relationships/viewProps" Target="viewProps.xml"/><Relationship Id="rId4" Type="http://schemas.openxmlformats.org/officeDocument/2006/relationships/notesMaster" Target="notesMasters/notesMaster1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B8B92F1A-01D5-4AB2-9882-2AFE23C42F3F}" type="datetimeFigureOut">
              <a:rPr lang="en-CA" smtClean="0"/>
              <a:t>2025-11-14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6DA273EE-3220-4EBD-B5CB-76B81EC3585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948957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62BEDB-063F-CE20-8696-B778111A23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322" y="1199997"/>
            <a:ext cx="6624966" cy="2387600"/>
          </a:xfrm>
        </p:spPr>
        <p:txBody>
          <a:bodyPr anchor="b">
            <a:normAutofit/>
          </a:bodyPr>
          <a:lstStyle>
            <a:lvl1pPr algn="l">
              <a:defRPr lang="en-CA" sz="4801" b="1" kern="1200" dirty="0">
                <a:solidFill>
                  <a:srgbClr val="238DC1"/>
                </a:solidFill>
                <a:latin typeface="Roboto"/>
                <a:ea typeface="+mn-ea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  <a:endParaRPr lang="en-CA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0071BA-548B-8A5A-E0A8-A892168175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320" y="3881414"/>
            <a:ext cx="6624968" cy="1402028"/>
          </a:xfrm>
        </p:spPr>
        <p:txBody>
          <a:bodyPr>
            <a:normAutofit/>
          </a:bodyPr>
          <a:lstStyle>
            <a:lvl1pPr marL="0" indent="0" algn="l">
              <a:buNone/>
              <a:defRPr lang="en-CA" sz="2401" kern="1200" dirty="0">
                <a:solidFill>
                  <a:srgbClr val="646464"/>
                </a:solidFill>
                <a:latin typeface="Roboto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3602375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EAF895-CB1D-6568-A0ED-A6CC5BB5C4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C0B4D4C-E2FF-8605-7579-8B12D2E21E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03A1FE-1233-433F-B853-5639322DF1C8}" type="slidenum">
              <a:rPr lang="en-CA" smtClean="0"/>
              <a:pPr/>
              <a:t>‹#›</a:t>
            </a:fld>
            <a:endParaRPr lang="en-CA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8ED23F-7618-043E-CA2E-82AE8F59619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38163" y="1017588"/>
            <a:ext cx="11196637" cy="466725"/>
          </a:xfrm>
        </p:spPr>
        <p:txBody>
          <a:bodyPr>
            <a:normAutofit/>
          </a:bodyPr>
          <a:lstStyle>
            <a:lvl1pPr marL="0" indent="0">
              <a:buNone/>
              <a:defRPr lang="en-CA" sz="2201" kern="1200" dirty="0">
                <a:solidFill>
                  <a:srgbClr val="646464"/>
                </a:solidFill>
                <a:latin typeface="Roboto"/>
                <a:ea typeface="+mn-ea"/>
                <a:cs typeface="+mn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 sz="2200"/>
            </a:lvl3pPr>
          </a:lstStyle>
          <a:p>
            <a:pPr lvl="0"/>
            <a:r>
              <a:rPr lang="en-US" dirty="0"/>
              <a:t>Descriptive question or subtitle</a:t>
            </a:r>
            <a:endParaRPr lang="en-CA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7B73C20B-F9A2-5BB3-7E71-CCC2F07CFA8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38163" y="2018581"/>
            <a:ext cx="11196637" cy="41663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8543593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EAF895-CB1D-6568-A0ED-A6CC5BB5C4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C0B4D4C-E2FF-8605-7579-8B12D2E21E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03A1FE-1233-433F-B853-5639322DF1C8}" type="slidenum">
              <a:rPr lang="en-CA" smtClean="0"/>
              <a:pPr/>
              <a:t>‹#›</a:t>
            </a:fld>
            <a:endParaRPr lang="en-CA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8ED23F-7618-043E-CA2E-82AE8F59619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38163" y="1017588"/>
            <a:ext cx="11196637" cy="466725"/>
          </a:xfrm>
        </p:spPr>
        <p:txBody>
          <a:bodyPr>
            <a:normAutofit/>
          </a:bodyPr>
          <a:lstStyle>
            <a:lvl1pPr marL="0" indent="0">
              <a:buNone/>
              <a:defRPr lang="en-CA" sz="2201" kern="1200" dirty="0">
                <a:solidFill>
                  <a:srgbClr val="646464"/>
                </a:solidFill>
                <a:latin typeface="Roboto"/>
                <a:ea typeface="+mn-ea"/>
                <a:cs typeface="+mn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 sz="2200"/>
            </a:lvl3pPr>
          </a:lstStyle>
          <a:p>
            <a:pPr lvl="0"/>
            <a:r>
              <a:rPr lang="en-US" dirty="0"/>
              <a:t>Descriptive question or subtitle</a:t>
            </a:r>
            <a:endParaRPr lang="en-CA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7B73C20B-F9A2-5BB3-7E71-CCC2F07CFA8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38163" y="2018581"/>
            <a:ext cx="5405437" cy="41663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 dirty="0"/>
          </a:p>
        </p:txBody>
      </p:sp>
      <p:sp>
        <p:nvSpPr>
          <p:cNvPr id="4" name="Content Placeholder 10">
            <a:extLst>
              <a:ext uri="{FF2B5EF4-FFF2-40B4-BE49-F238E27FC236}">
                <a16:creationId xmlns:a16="http://schemas.microsoft.com/office/drawing/2014/main" id="{71B015B5-4EFD-8D09-43A8-1641361536F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76964" y="2007079"/>
            <a:ext cx="5557718" cy="41663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0461085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FA9E57-C182-FC2E-3D53-1F0F2E31C4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BB7E02-AF3F-1545-0F06-C379E04015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7712" y="2053087"/>
            <a:ext cx="11196637" cy="4080294"/>
          </a:xfrm>
        </p:spPr>
        <p:txBody>
          <a:bodyPr/>
          <a:lstStyle>
            <a:lvl1pPr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090791-FA38-8B94-CA5E-48FA27BDA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3A1FE-1233-433F-B853-5639322DF1C8}" type="slidenum">
              <a:rPr lang="en-CA" smtClean="0"/>
              <a:t>‹#›</a:t>
            </a:fld>
            <a:endParaRPr lang="en-CA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09981BB-FB2B-5B5B-51EC-318575EFBE5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8163" y="1009650"/>
            <a:ext cx="11196637" cy="474663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CA" sz="2000" dirty="0">
                <a:solidFill>
                  <a:srgbClr val="646464"/>
                </a:solidFill>
                <a:latin typeface="Roboto"/>
              </a:rPr>
              <a:t>Descriptive question or subtitle</a:t>
            </a:r>
          </a:p>
          <a:p>
            <a:pPr lvl="0"/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803341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279339-4A95-0267-B062-F95E9C335D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4CACB6-42A4-E12E-0AEE-1659214C9D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5F425D-FE46-3A63-9551-B8995E05DB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0875586-8F78-90CC-8847-405153884A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4FC5672-F904-7250-FEAA-8523CDAB29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4F38376-A5CA-69DC-96BE-5CAF84A29D4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68C5A0-47BE-FE20-D767-9032B03DBF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04DEC89-1CC7-1027-7825-AEC4D5CC19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3A1FE-1233-433F-B853-5639322DF1C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614556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F2262C-EB1B-18EF-FC93-DC12C1A4FB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1F3DE66-BD40-F9F3-D72D-F83C234FB92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F79EBE6-5D56-369F-A6DB-A6D2D19685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97D081-DC61-7CC9-13E1-114BEF0BA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3A1FE-1233-433F-B853-5639322DF1C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395149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77DF48-AC88-62C0-0856-0C7E43D18B9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86E1189-B3C9-AFD4-F18B-C2DFF29A73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515908-DC0F-8900-B44E-8BF2258BA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3A1FE-1233-433F-B853-5639322DF1C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591130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715CC-EF28-8298-3D5A-6F0710380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CE1925-F4A7-C0E8-B187-7A7F79539B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A9D8EE-3F7C-C25C-A955-F4C2E809A9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E95359-94F5-9566-A89A-2378006DB6A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6A9E13-481C-92C0-EB3B-4BE9978626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526009-2E02-4D1B-A09F-617BD3660B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3A1FE-1233-433F-B853-5639322DF1C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070202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C3F63-49C9-91D8-5D06-5C9B63281B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7F420DD-208B-8552-7DDA-7D5CE2433F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C088A9-3293-5FF0-C12A-5BAB6156FB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17D832-FB2B-27C0-3658-E499286BC0F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089410-AADC-E2BA-6E0D-9E193F4B3B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4C925F-E010-711E-F09F-86ECC0FDB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3A1FE-1233-433F-B853-5639322DF1C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730178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235C7-0E74-105A-C0FA-57D938EC99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971C3A-354C-6969-A24C-1512AF06BB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70F864-FB89-F310-C877-746416FFE9E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F7597C-903E-1E03-64ED-2F855AFE88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E5DF70-BA7F-9163-37EA-777E253A94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3A1FE-1233-433F-B853-5639322DF1C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681472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75D5D82-1898-0906-94B5-3FC961F5CE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C53406-8555-A162-6DCE-3DDC5F95EE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DADF7-9DD2-779C-BC8C-3E10182E48E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EC4014-9E4B-6DD8-5075-E2D6481971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085F5D-9AD1-09AB-E42A-2C128FDF2C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3A1FE-1233-433F-B853-5639322DF1C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922236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B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0DA9206-1234-1775-6535-3C49910C4C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7713" y="332432"/>
            <a:ext cx="11196968" cy="56680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Main Point Title</a:t>
            </a:r>
            <a:br>
              <a:rPr lang="en-US" dirty="0"/>
            </a:br>
            <a:endParaRPr lang="en-CA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791084-3E88-51DB-16E7-777876DCDF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7712" y="2053087"/>
            <a:ext cx="10816087" cy="40802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CA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B592B7-A25D-4D92-CBE4-2BA16EA63C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64597" y="646877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CA" sz="1200" b="1" kern="1200" smtClean="0">
                <a:solidFill>
                  <a:srgbClr val="646464"/>
                </a:solidFill>
                <a:latin typeface="Roboto"/>
                <a:ea typeface="+mn-ea"/>
                <a:cs typeface="+mn-cs"/>
              </a:defRPr>
            </a:lvl1pPr>
          </a:lstStyle>
          <a:p>
            <a:fld id="{1303A1FE-1233-433F-B853-5639322DF1C8}" type="slidenum">
              <a:rPr lang="en-CA" smtClean="0"/>
              <a:pPr/>
              <a:t>‹#›</a:t>
            </a:fld>
            <a:endParaRPr lang="en-CA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2AB91D7-0F4E-8307-6CEB-D4C454994CA4}"/>
              </a:ext>
            </a:extLst>
          </p:cNvPr>
          <p:cNvSpPr txBox="1"/>
          <p:nvPr userDrawn="1"/>
        </p:nvSpPr>
        <p:spPr>
          <a:xfrm>
            <a:off x="83451" y="6512835"/>
            <a:ext cx="2297424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en-CA" sz="1200" b="1" dirty="0">
                <a:solidFill>
                  <a:srgbClr val="646464"/>
                </a:solidFill>
                <a:latin typeface="Roboto"/>
              </a:rPr>
              <a:t>Sean Mullin</a:t>
            </a:r>
            <a:r>
              <a:rPr sz="1200" b="1" dirty="0">
                <a:solidFill>
                  <a:srgbClr val="646464"/>
                </a:solidFill>
                <a:latin typeface="Roboto"/>
              </a:rPr>
              <a:t> </a:t>
            </a:r>
            <a:r>
              <a:rPr lang="en-CA" sz="1200" b="1" dirty="0">
                <a:solidFill>
                  <a:srgbClr val="646464"/>
                </a:solidFill>
                <a:latin typeface="Roboto"/>
              </a:rPr>
              <a:t> </a:t>
            </a:r>
            <a:r>
              <a:rPr sz="1200" b="1" dirty="0">
                <a:solidFill>
                  <a:srgbClr val="646464"/>
                </a:solidFill>
                <a:latin typeface="Roboto"/>
              </a:rPr>
              <a:t>|</a:t>
            </a:r>
            <a:r>
              <a:rPr lang="en-CA" sz="1200" b="1" dirty="0">
                <a:solidFill>
                  <a:srgbClr val="646464"/>
                </a:solidFill>
                <a:latin typeface="Roboto"/>
              </a:rPr>
              <a:t> </a:t>
            </a:r>
            <a:r>
              <a:rPr sz="1200" b="1" dirty="0">
                <a:solidFill>
                  <a:srgbClr val="646464"/>
                </a:solidFill>
                <a:latin typeface="Roboto"/>
              </a:rPr>
              <a:t> </a:t>
            </a:r>
            <a:r>
              <a:rPr lang="en-CA" sz="1200" b="1" dirty="0">
                <a:solidFill>
                  <a:srgbClr val="646464"/>
                </a:solidFill>
                <a:latin typeface="Roboto"/>
              </a:rPr>
              <a:t>November</a:t>
            </a:r>
            <a:r>
              <a:rPr sz="1200" b="1" dirty="0">
                <a:solidFill>
                  <a:srgbClr val="646464"/>
                </a:solidFill>
                <a:latin typeface="Roboto"/>
              </a:rPr>
              <a:t> 2025</a:t>
            </a:r>
          </a:p>
        </p:txBody>
      </p:sp>
    </p:spTree>
    <p:extLst>
      <p:ext uri="{BB962C8B-B14F-4D97-AF65-F5344CB8AC3E}">
        <p14:creationId xmlns:p14="http://schemas.microsoft.com/office/powerpoint/2010/main" val="10403621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68" r:id="rId2"/>
    <p:sldLayoutId id="2147483669" r:id="rId3"/>
    <p:sldLayoutId id="2147483658" r:id="rId4"/>
    <p:sldLayoutId id="2147483661" r:id="rId5"/>
    <p:sldLayoutId id="2147483662" r:id="rId6"/>
    <p:sldLayoutId id="2147483663" r:id="rId7"/>
    <p:sldLayoutId id="2147483664" r:id="rId8"/>
    <p:sldLayoutId id="2147483665" r:id="rId9"/>
    <p:sldLayoutId id="2147483666" r:id="rId10"/>
    <p:sldLayoutId id="2147483667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CA" sz="4400" b="1" kern="1200" dirty="0">
          <a:solidFill>
            <a:srgbClr val="238DC1"/>
          </a:solidFill>
          <a:latin typeface="Roboto"/>
          <a:ea typeface="+mn-ea"/>
          <a:cs typeface="+mn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lang="en-US" sz="1800" kern="1200" dirty="0" smtClean="0">
          <a:solidFill>
            <a:schemeClr val="tx1"/>
          </a:solidFill>
          <a:latin typeface="Roboto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lang="en-US" sz="1800" kern="1200" dirty="0" smtClean="0">
          <a:solidFill>
            <a:schemeClr val="tx1"/>
          </a:solidFill>
          <a:latin typeface="Roboto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lang="en-US" sz="1800" kern="1200" dirty="0" smtClean="0">
          <a:solidFill>
            <a:schemeClr val="tx1"/>
          </a:solidFill>
          <a:latin typeface="Roboto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lang="en-US" sz="1800" kern="1200" dirty="0" smtClean="0">
          <a:solidFill>
            <a:schemeClr val="tx1"/>
          </a:solidFill>
          <a:latin typeface="Roboto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lang="en-CA" sz="1800" kern="1200" dirty="0">
          <a:solidFill>
            <a:schemeClr val="tx1"/>
          </a:solidFill>
          <a:latin typeface="Roboto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https://claude.ai/share/073f3710-9039-4dcc-af6b-fb8973d003c9" TargetMode="External"/><Relationship Id="rId3" Type="http://schemas.openxmlformats.org/officeDocument/2006/relationships/hyperlink" Target="https://claude.ai/public/artifacts/a5d8c616-3960-48ef-83d5-d46243902ac4" TargetMode="External"/><Relationship Id="rId7" Type="http://schemas.openxmlformats.org/officeDocument/2006/relationships/hyperlink" Target="https://claude.ai/public/artifacts/b7066444-4193-4a07-86b3-34f5d3b8c7d8" TargetMode="External"/><Relationship Id="rId2" Type="http://schemas.openxmlformats.org/officeDocument/2006/relationships/hyperlink" Target="https://claude.ai/share/39130465-8e87-42f3-a497-2d8b83e27e0f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claude.ai/share/84967d15-7596-49f7-8257-120e4a2473d0" TargetMode="External"/><Relationship Id="rId5" Type="http://schemas.openxmlformats.org/officeDocument/2006/relationships/hyperlink" Target="https://docs.google.com/document/d/1cPRbp3oeI-QTctMVzrjaasX6Az3CGWKUwMKHyjc17uw/edit?usp=sharing" TargetMode="External"/><Relationship Id="rId10" Type="http://schemas.openxmlformats.org/officeDocument/2006/relationships/image" Target="../media/image1.jpg"/><Relationship Id="rId4" Type="http://schemas.openxmlformats.org/officeDocument/2006/relationships/hyperlink" Target="https://gemini.google.com/share/1f9039ad51ca" TargetMode="External"/><Relationship Id="rId9" Type="http://schemas.openxmlformats.org/officeDocument/2006/relationships/hyperlink" Target="https://claude.ai/public/artifacts/67051f83-9aec-467f-970f-f3f0eb78a60e" TargetMode="Externa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https://claude.ai/public/artifacts/ac89f54e-e0f5-4f4a-9a2e-9f0262831298" TargetMode="External"/><Relationship Id="rId3" Type="http://schemas.openxmlformats.org/officeDocument/2006/relationships/hyperlink" Target="https://chatgpt.com/share/691755ed-beec-8001-92e9-ece1fcbd2452" TargetMode="External"/><Relationship Id="rId7" Type="http://schemas.openxmlformats.org/officeDocument/2006/relationships/hyperlink" Target="https://claude.ai/share/01171078-5c5f-4c65-bb76-0b690cbf6423" TargetMode="External"/><Relationship Id="rId12" Type="http://schemas.openxmlformats.org/officeDocument/2006/relationships/hyperlink" Target="https://www.perplexity.ai/apps/6deb94dd-fca6-49f4-b050-0978dbfb4734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claude.ai/share/2ead7529-1d37-4fb5-8ffa-f9cfd7b4f232" TargetMode="External"/><Relationship Id="rId11" Type="http://schemas.openxmlformats.org/officeDocument/2006/relationships/hyperlink" Target="https://www.perplexity.ai/search/turn-this-into-a-slide-deck-ou-SUrZ5Im5SK2Uv75.FmTaNg?preview=1" TargetMode="External"/><Relationship Id="rId5" Type="http://schemas.openxmlformats.org/officeDocument/2006/relationships/hyperlink" Target="https://claude.ai/public/artifacts/d511f07e-13bd-4ece-b6a2-a6077da42ee9" TargetMode="External"/><Relationship Id="rId10" Type="http://schemas.openxmlformats.org/officeDocument/2006/relationships/hyperlink" Target="https://www.perplexity.ai/" TargetMode="External"/><Relationship Id="rId4" Type="http://schemas.openxmlformats.org/officeDocument/2006/relationships/hyperlink" Target="https://claude.ai/share/8a5d3762-d62e-4e6c-beae-b86739598718" TargetMode="External"/><Relationship Id="rId9" Type="http://schemas.openxmlformats.org/officeDocument/2006/relationships/hyperlink" Target="https://claude.ai/public/artifacts/f60fbd48-02be-4868-a9c3-64cab232ba27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0B757A8-512C-B77A-431F-D69F7FCF1A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0A9BC1-AC0B-5CA2-3316-A94E66843F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Writing a Synthesis Memo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2ECA1C7-1D28-837B-B2EF-1C04DDB25FB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03A1FE-1233-433F-B853-5639322DF1C8}" type="slidenum">
              <a:rPr lang="en-CA" smtClean="0"/>
              <a:pPr/>
              <a:t>1</a:t>
            </a:fld>
            <a:endParaRPr lang="en-CA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D2FB75-B2D7-D553-AA97-932EA54E23F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CA" dirty="0"/>
              <a:t>Budget 2025 example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9CC08F6-53A3-4B63-D218-D190E6FD21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3517553"/>
              </p:ext>
            </p:extLst>
          </p:nvPr>
        </p:nvGraphicFramePr>
        <p:xfrm>
          <a:off x="986924" y="2110665"/>
          <a:ext cx="10470665" cy="392068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3167480">
                  <a:extLst>
                    <a:ext uri="{9D8B030D-6E8A-4147-A177-3AD203B41FA5}">
                      <a16:colId xmlns:a16="http://schemas.microsoft.com/office/drawing/2014/main" val="1595624980"/>
                    </a:ext>
                  </a:extLst>
                </a:gridCol>
                <a:gridCol w="4075196">
                  <a:extLst>
                    <a:ext uri="{9D8B030D-6E8A-4147-A177-3AD203B41FA5}">
                      <a16:colId xmlns:a16="http://schemas.microsoft.com/office/drawing/2014/main" val="4127160330"/>
                    </a:ext>
                  </a:extLst>
                </a:gridCol>
                <a:gridCol w="3227989">
                  <a:extLst>
                    <a:ext uri="{9D8B030D-6E8A-4147-A177-3AD203B41FA5}">
                      <a16:colId xmlns:a16="http://schemas.microsoft.com/office/drawing/2014/main" val="3502104328"/>
                    </a:ext>
                  </a:extLst>
                </a:gridCol>
              </a:tblGrid>
              <a:tr h="385069">
                <a:tc>
                  <a:txBody>
                    <a:bodyPr/>
                    <a:lstStyle/>
                    <a:p>
                      <a:pPr algn="ctr"/>
                      <a:r>
                        <a:rPr lang="en-CA" sz="1600" kern="120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Process Step</a:t>
                      </a:r>
                    </a:p>
                  </a:txBody>
                  <a:tcPr>
                    <a:solidFill>
                      <a:srgbClr val="A5D8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600" kern="120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Activity</a:t>
                      </a:r>
                    </a:p>
                  </a:txBody>
                  <a:tcPr>
                    <a:solidFill>
                      <a:srgbClr val="A5D8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600" b="1" kern="120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Example</a:t>
                      </a:r>
                    </a:p>
                  </a:txBody>
                  <a:tcPr>
                    <a:solidFill>
                      <a:srgbClr val="A5D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8660815"/>
                  </a:ext>
                </a:extLst>
              </a:tr>
              <a:tr h="766413">
                <a:tc>
                  <a:txBody>
                    <a:bodyPr/>
                    <a:lstStyle/>
                    <a:p>
                      <a:pPr marL="342900" indent="-342900">
                        <a:buAutoNum type="arabicPeriod"/>
                      </a:pPr>
                      <a:r>
                        <a:rPr lang="en-CA" sz="1400" kern="120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Prepare Background Materials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CA" sz="1400" kern="120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Extract key elements of Budget 2025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CA" sz="1400" kern="1200" dirty="0">
                        <a:solidFill>
                          <a:schemeClr val="tx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CA" sz="1400" kern="120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Conduct media + stakeholder scan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CA" sz="1400" kern="120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Budget 2025 highlights: </a:t>
                      </a:r>
                      <a:r>
                        <a:rPr lang="en-CA" sz="1400" kern="120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hlinkClick r:id="rId2"/>
                        </a:rPr>
                        <a:t>chat</a:t>
                      </a:r>
                      <a:r>
                        <a:rPr lang="en-CA" sz="1400" kern="120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, </a:t>
                      </a:r>
                      <a:r>
                        <a:rPr lang="en-CA" sz="1400" kern="120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hlinkClick r:id="rId3"/>
                        </a:rPr>
                        <a:t>output</a:t>
                      </a:r>
                      <a:endParaRPr lang="en-CA" sz="1400" kern="1200" dirty="0">
                        <a:solidFill>
                          <a:schemeClr val="tx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  <a:p>
                      <a:endParaRPr lang="en-CA" sz="1400" kern="1200" dirty="0">
                        <a:solidFill>
                          <a:schemeClr val="tx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  <a:p>
                      <a:r>
                        <a:rPr lang="en-CA" sz="1400" kern="120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Media/stakeholder scan: </a:t>
                      </a:r>
                      <a:r>
                        <a:rPr lang="en-CA" sz="1400" kern="120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hlinkClick r:id="rId4"/>
                        </a:rPr>
                        <a:t>chat</a:t>
                      </a:r>
                      <a:r>
                        <a:rPr lang="en-CA" sz="1400" kern="120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, </a:t>
                      </a:r>
                      <a:r>
                        <a:rPr lang="en-CA" sz="1400" kern="120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hlinkClick r:id="rId5"/>
                        </a:rPr>
                        <a:t>output</a:t>
                      </a:r>
                      <a:endParaRPr lang="en-CA" sz="1400" kern="1200" dirty="0">
                        <a:solidFill>
                          <a:schemeClr val="tx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99264661"/>
                  </a:ext>
                </a:extLst>
              </a:tr>
              <a:tr h="667595">
                <a:tc>
                  <a:txBody>
                    <a:bodyPr/>
                    <a:lstStyle/>
                    <a:p>
                      <a:pPr marL="342900" indent="-342900">
                        <a:buAutoNum type="arabicPeriod" startAt="2"/>
                      </a:pPr>
                      <a:r>
                        <a:rPr lang="en-CA" sz="1400" kern="120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Generate a rough outline of memo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CA" sz="1400" kern="120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Review and iterate	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CA" sz="1400" kern="120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Rough outline: </a:t>
                      </a:r>
                      <a:r>
                        <a:rPr lang="en-CA" sz="1400" kern="120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hlinkClick r:id="rId5"/>
                        </a:rPr>
                        <a:t>chat</a:t>
                      </a:r>
                      <a:endParaRPr lang="en-CA" sz="1400" kern="1200" dirty="0">
                        <a:solidFill>
                          <a:schemeClr val="tx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99899112"/>
                  </a:ext>
                </a:extLst>
              </a:tr>
              <a:tr h="667595">
                <a:tc>
                  <a:txBody>
                    <a:bodyPr/>
                    <a:lstStyle/>
                    <a:p>
                      <a:pPr marL="342900" indent="-342900">
                        <a:buAutoNum type="arabicPeriod" startAt="3"/>
                      </a:pPr>
                      <a:r>
                        <a:rPr lang="en-CA" sz="1400" kern="120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Generate an annotated outline of memo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CA" sz="1400" kern="120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Include data sources, references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CA" sz="1400" kern="120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Annotated outline: </a:t>
                      </a:r>
                      <a:r>
                        <a:rPr lang="en-CA" sz="1400" kern="120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hlinkClick r:id="rId6"/>
                        </a:rPr>
                        <a:t>chat</a:t>
                      </a:r>
                      <a:r>
                        <a:rPr lang="en-CA" sz="1400" kern="120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, </a:t>
                      </a:r>
                      <a:r>
                        <a:rPr lang="en-CA" sz="1400" kern="120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hlinkClick r:id="rId7"/>
                        </a:rPr>
                        <a:t>output</a:t>
                      </a:r>
                      <a:endParaRPr lang="en-CA" sz="1400" kern="1200" dirty="0">
                        <a:solidFill>
                          <a:schemeClr val="tx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14328376"/>
                  </a:ext>
                </a:extLst>
              </a:tr>
              <a:tr h="766413">
                <a:tc>
                  <a:txBody>
                    <a:bodyPr/>
                    <a:lstStyle/>
                    <a:p>
                      <a:pPr marL="342900" indent="-342900">
                        <a:buAutoNum type="arabicPeriod" startAt="4"/>
                      </a:pPr>
                      <a:r>
                        <a:rPr lang="en-CA" sz="1400" kern="120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Generate rough draft of memo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CA" sz="1400" kern="120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Optional:  Apply a template and/or style guide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CA" sz="1400" kern="1200" dirty="0">
                        <a:solidFill>
                          <a:schemeClr val="tx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CA" sz="1400" kern="120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Review and iterate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CA" sz="1400" kern="120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Rough draft:  </a:t>
                      </a:r>
                      <a:r>
                        <a:rPr lang="en-CA" sz="1400" kern="120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hlinkClick r:id="rId8"/>
                        </a:rPr>
                        <a:t>chat</a:t>
                      </a:r>
                      <a:r>
                        <a:rPr lang="en-CA" sz="1400" kern="120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, </a:t>
                      </a:r>
                      <a:r>
                        <a:rPr lang="en-CA" sz="1400" kern="120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hlinkClick r:id="rId9"/>
                        </a:rPr>
                        <a:t>output</a:t>
                      </a:r>
                      <a:r>
                        <a:rPr lang="en-CA" sz="1400" kern="120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15504047"/>
                  </a:ext>
                </a:extLst>
              </a:tr>
              <a:tr h="667595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 startAt="5"/>
                        <a:tabLst/>
                        <a:defRPr/>
                      </a:pPr>
                      <a:r>
                        <a:rPr lang="en-CA" sz="1400" kern="120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Generate final draft of memo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CA" sz="1400" kern="120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Review, proof-read and iterate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CA" sz="1400" kern="120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Do this in a word processor!  </a:t>
                      </a:r>
                      <a:r>
                        <a:rPr lang="en-CA" sz="1400" kern="120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sym typeface="Wingdings" panose="05000000000000000000" pitchFamily="2" charset="2"/>
                        </a:rPr>
                        <a:t></a:t>
                      </a:r>
                      <a:endParaRPr lang="en-CA" sz="1400" kern="1200" dirty="0">
                        <a:solidFill>
                          <a:schemeClr val="tx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5585282"/>
                  </a:ext>
                </a:extLst>
              </a:tr>
            </a:tbl>
          </a:graphicData>
        </a:graphic>
      </p:graphicFrame>
      <p:pic>
        <p:nvPicPr>
          <p:cNvPr id="7" name="Content Placeholder 19">
            <a:extLst>
              <a:ext uri="{FF2B5EF4-FFF2-40B4-BE49-F238E27FC236}">
                <a16:creationId xmlns:a16="http://schemas.microsoft.com/office/drawing/2014/main" id="{AE0E6496-0519-D3DB-C0FE-8D30225B9E4F}"/>
              </a:ext>
            </a:extLst>
          </p:cNvPr>
          <p:cNvPicPr>
            <a:picLocks noGrp="1" noChangeAspect="1"/>
          </p:cNvPicPr>
          <p:nvPr>
            <p:ph sz="quarter" idx="12"/>
          </p:nvPr>
        </p:nvPicPr>
        <p:blipFill>
          <a:blip r:embed="rId10"/>
          <a:stretch>
            <a:fillRect/>
          </a:stretch>
        </p:blipFill>
        <p:spPr>
          <a:xfrm>
            <a:off x="8670848" y="332432"/>
            <a:ext cx="2786741" cy="1625599"/>
          </a:xfrm>
        </p:spPr>
      </p:pic>
    </p:spTree>
    <p:extLst>
      <p:ext uri="{BB962C8B-B14F-4D97-AF65-F5344CB8AC3E}">
        <p14:creationId xmlns:p14="http://schemas.microsoft.com/office/powerpoint/2010/main" val="24240084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F3C4DE7-DFEE-A091-559A-A74AFB6C78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471DAE05-F32D-8C5F-963A-98262EDCC4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2087" y="29297"/>
            <a:ext cx="2200565" cy="220056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5E19BCA-4AB7-F49C-CF69-9DDECE27C6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Generating Additional Documents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FF987D1-1E46-C31E-79ED-64EFAAFD74D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03A1FE-1233-433F-B853-5639322DF1C8}" type="slidenum">
              <a:rPr lang="en-CA" smtClean="0"/>
              <a:pPr/>
              <a:t>2</a:t>
            </a:fld>
            <a:endParaRPr lang="en-CA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DB1ADA-ABCF-7E47-DDB2-6EF205EFAA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CA" dirty="0"/>
              <a:t>Extending our original memo to other documents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5FD1AC7F-A160-5610-8EEF-B5DC673EC9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6675646"/>
              </p:ext>
            </p:extLst>
          </p:nvPr>
        </p:nvGraphicFramePr>
        <p:xfrm>
          <a:off x="1264016" y="2589830"/>
          <a:ext cx="9744362" cy="3247788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2989778">
                  <a:extLst>
                    <a:ext uri="{9D8B030D-6E8A-4147-A177-3AD203B41FA5}">
                      <a16:colId xmlns:a16="http://schemas.microsoft.com/office/drawing/2014/main" val="1595624980"/>
                    </a:ext>
                  </a:extLst>
                </a:gridCol>
                <a:gridCol w="3591236">
                  <a:extLst>
                    <a:ext uri="{9D8B030D-6E8A-4147-A177-3AD203B41FA5}">
                      <a16:colId xmlns:a16="http://schemas.microsoft.com/office/drawing/2014/main" val="4127160330"/>
                    </a:ext>
                  </a:extLst>
                </a:gridCol>
                <a:gridCol w="3163348">
                  <a:extLst>
                    <a:ext uri="{9D8B030D-6E8A-4147-A177-3AD203B41FA5}">
                      <a16:colId xmlns:a16="http://schemas.microsoft.com/office/drawing/2014/main" val="3502104328"/>
                    </a:ext>
                  </a:extLst>
                </a:gridCol>
              </a:tblGrid>
              <a:tr h="399504">
                <a:tc>
                  <a:txBody>
                    <a:bodyPr/>
                    <a:lstStyle/>
                    <a:p>
                      <a:r>
                        <a:rPr lang="en-CA" sz="1600" kern="120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Document Type</a:t>
                      </a:r>
                    </a:p>
                  </a:txBody>
                  <a:tcPr>
                    <a:solidFill>
                      <a:srgbClr val="FFC9C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A" sz="1600" kern="120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Concept</a:t>
                      </a:r>
                    </a:p>
                  </a:txBody>
                  <a:tcPr>
                    <a:solidFill>
                      <a:srgbClr val="FFC9C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A" sz="1600" b="1" kern="120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Example</a:t>
                      </a:r>
                    </a:p>
                  </a:txBody>
                  <a:tcPr>
                    <a:solidFill>
                      <a:srgbClr val="FFC9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8660815"/>
                  </a:ext>
                </a:extLst>
              </a:tr>
              <a:tr h="692622">
                <a:tc>
                  <a:txBody>
                    <a:bodyPr/>
                    <a:lstStyle/>
                    <a:p>
                      <a:r>
                        <a:rPr lang="en-CA" sz="1600" kern="120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1.  Blog Post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CA" sz="1400" kern="120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Applying a style guide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CA" sz="1400" kern="120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Creating a style guide: </a:t>
                      </a:r>
                      <a:r>
                        <a:rPr lang="en-CA" sz="1400" kern="120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hlinkClick r:id="rId3"/>
                        </a:rPr>
                        <a:t>chat</a:t>
                      </a:r>
                      <a:endParaRPr lang="en-CA" sz="1400" kern="1200" dirty="0">
                        <a:solidFill>
                          <a:schemeClr val="tx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  <a:p>
                      <a:endParaRPr lang="en-CA" sz="1400" kern="1200" dirty="0">
                        <a:solidFill>
                          <a:schemeClr val="tx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  <a:p>
                      <a:r>
                        <a:rPr lang="en-CA" sz="1400" kern="120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Blog post:  </a:t>
                      </a:r>
                      <a:r>
                        <a:rPr lang="en-CA" sz="1400" kern="120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hlinkClick r:id="rId4"/>
                        </a:rPr>
                        <a:t>chat</a:t>
                      </a:r>
                      <a:r>
                        <a:rPr lang="en-CA" sz="1400" kern="120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, </a:t>
                      </a:r>
                      <a:r>
                        <a:rPr lang="en-CA" sz="1400" kern="120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hlinkClick r:id="rId5"/>
                        </a:rPr>
                        <a:t>output</a:t>
                      </a:r>
                      <a:endParaRPr lang="en-CA" sz="1400" kern="1200" dirty="0">
                        <a:solidFill>
                          <a:schemeClr val="tx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9264661"/>
                  </a:ext>
                </a:extLst>
              </a:tr>
              <a:tr h="692622">
                <a:tc>
                  <a:txBody>
                    <a:bodyPr/>
                    <a:lstStyle/>
                    <a:p>
                      <a:r>
                        <a:rPr lang="en-CA" sz="1600" kern="120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2.  Social Media Posts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CA" sz="1400" kern="120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Using examples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CA" sz="1400" kern="1200" dirty="0">
                        <a:solidFill>
                          <a:schemeClr val="tx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  <a:p>
                      <a:r>
                        <a:rPr lang="en-CA" sz="1400" kern="120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Social media posts: </a:t>
                      </a:r>
                      <a:r>
                        <a:rPr lang="en-CA" sz="1400" kern="120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hlinkClick r:id="rId6"/>
                        </a:rPr>
                        <a:t>chat</a:t>
                      </a:r>
                      <a:endParaRPr lang="en-CA" sz="1400" kern="1200" dirty="0">
                        <a:solidFill>
                          <a:schemeClr val="tx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9899112"/>
                  </a:ext>
                </a:extLst>
              </a:tr>
              <a:tr h="6926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CA" sz="1600" kern="120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3.  Article for The Economist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CA" sz="1400" kern="120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Using Claude Skill to apply a style guide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CA" sz="1400" kern="120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Creating Claude Skill: </a:t>
                      </a:r>
                      <a:r>
                        <a:rPr lang="en-CA" sz="1400" kern="120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hlinkClick r:id="rId7"/>
                        </a:rPr>
                        <a:t>chat</a:t>
                      </a:r>
                      <a:r>
                        <a:rPr lang="en-CA" sz="1400" kern="120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, </a:t>
                      </a:r>
                      <a:r>
                        <a:rPr lang="en-CA" sz="1400" kern="120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hlinkClick r:id="rId8"/>
                        </a:rPr>
                        <a:t>output</a:t>
                      </a:r>
                      <a:endParaRPr lang="en-CA" sz="1400" kern="1200" dirty="0">
                        <a:solidFill>
                          <a:schemeClr val="tx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  <a:p>
                      <a:br>
                        <a:rPr lang="en-CA" sz="1400" kern="120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</a:br>
                      <a:r>
                        <a:rPr lang="en-CA" sz="1400" kern="120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Writing article: </a:t>
                      </a:r>
                      <a:r>
                        <a:rPr lang="en-CA" sz="1400" kern="120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hlinkClick r:id="rId8"/>
                        </a:rPr>
                        <a:t>chat</a:t>
                      </a:r>
                      <a:r>
                        <a:rPr lang="en-CA" sz="1400" kern="120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, </a:t>
                      </a:r>
                      <a:r>
                        <a:rPr lang="en-CA" sz="1400" kern="120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hlinkClick r:id="rId9"/>
                        </a:rPr>
                        <a:t>output</a:t>
                      </a:r>
                      <a:endParaRPr lang="en-CA" sz="1400" kern="1200" dirty="0">
                        <a:solidFill>
                          <a:schemeClr val="tx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4328376"/>
                  </a:ext>
                </a:extLst>
              </a:tr>
              <a:tr h="6926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CA" sz="1600" kern="120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4.   Slide deck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CA" sz="1400" kern="120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Experimental: testing the </a:t>
                      </a:r>
                      <a:r>
                        <a:rPr lang="en-CA" sz="1400" kern="120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hlinkClick r:id="rId10"/>
                        </a:rPr>
                        <a:t>perplexity.ai</a:t>
                      </a:r>
                      <a:r>
                        <a:rPr lang="en-CA" sz="1400" kern="120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 slide deck 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CA" sz="1400" kern="1200" dirty="0">
                        <a:solidFill>
                          <a:schemeClr val="tx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 panose="02000000000000000000" pitchFamily="2" charset="0"/>
                      </a:endParaRPr>
                    </a:p>
                    <a:p>
                      <a:r>
                        <a:rPr lang="en-CA" sz="1400" kern="120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Slide deck:  </a:t>
                      </a:r>
                      <a:r>
                        <a:rPr lang="en-CA" sz="1400" kern="120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hlinkClick r:id="rId11"/>
                        </a:rPr>
                        <a:t>chat</a:t>
                      </a:r>
                      <a:r>
                        <a:rPr lang="en-CA" sz="1400" kern="120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, </a:t>
                      </a:r>
                      <a:r>
                        <a:rPr lang="en-CA" sz="1400" kern="120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  <a:hlinkClick r:id="rId12"/>
                        </a:rPr>
                        <a:t>output</a:t>
                      </a:r>
                      <a:r>
                        <a:rPr lang="en-CA" sz="1400" kern="120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55040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81431983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Economic Presentation (Sept 2025)" id="{7AB9ED5F-1888-4672-82A2-D3D1516F57BD}" vid="{D85EEB47-2D7D-4780-8AF9-75F8093FE84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Economic Presentation (Sept 2025)</Template>
  <TotalTime>7510</TotalTime>
  <Words>209</Words>
  <Application>Microsoft Office PowerPoint</Application>
  <PresentationFormat>Widescreen</PresentationFormat>
  <Paragraphs>50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Calibri</vt:lpstr>
      <vt:lpstr>Arial</vt:lpstr>
      <vt:lpstr>Roboto</vt:lpstr>
      <vt:lpstr>Custom Design</vt:lpstr>
      <vt:lpstr>Writing a Synthesis Memo </vt:lpstr>
      <vt:lpstr>Generating Additional Documents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Sean Mullin</dc:creator>
  <cp:keywords/>
  <dc:description>generated using python-pptx</dc:description>
  <cp:lastModifiedBy>Sean Mullin</cp:lastModifiedBy>
  <cp:revision>35</cp:revision>
  <cp:lastPrinted>2025-10-28T20:20:34Z</cp:lastPrinted>
  <dcterms:created xsi:type="dcterms:W3CDTF">2025-10-16T13:37:00Z</dcterms:created>
  <dcterms:modified xsi:type="dcterms:W3CDTF">2025-11-14T17:14:18Z</dcterms:modified>
  <cp:category/>
</cp:coreProperties>
</file>